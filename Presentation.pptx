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20"/>
  </p:notesMasterIdLst>
  <p:handoutMasterIdLst>
    <p:handoutMasterId r:id="rId21"/>
  </p:handoutMasterIdLst>
  <p:sldIdLst>
    <p:sldId id="2147482664" r:id="rId6"/>
    <p:sldId id="295" r:id="rId7"/>
    <p:sldId id="2147482655" r:id="rId8"/>
    <p:sldId id="2147482657" r:id="rId9"/>
    <p:sldId id="2147482658" r:id="rId10"/>
    <p:sldId id="2147482659" r:id="rId11"/>
    <p:sldId id="2147482666" r:id="rId12"/>
    <p:sldId id="2147482665" r:id="rId13"/>
    <p:sldId id="2147482660" r:id="rId14"/>
    <p:sldId id="2147482656" r:id="rId15"/>
    <p:sldId id="2147482662" r:id="rId16"/>
    <p:sldId id="2147482667" r:id="rId17"/>
    <p:sldId id="2147482663" r:id="rId18"/>
    <p:sldId id="262" r:id="rId19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buFont typeface="Arial" panose="020B0604020202020204" pitchFamily="34" charset="0"/>
      <a:buNone/>
      <a:defRPr sz="1800" kern="1200">
        <a:solidFill>
          <a:schemeClr val="tx1"/>
        </a:solidFill>
        <a:latin typeface="+mj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 typeface="Wingdings" panose="05000000000000000000" pitchFamily="2" charset="2"/>
      <a:buNone/>
      <a:defRPr sz="1400" kern="1200">
        <a:solidFill>
          <a:schemeClr val="tx1"/>
        </a:solidFill>
        <a:latin typeface="+mj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athon Presentation" id="{E45C5319-8C0D-42C0-AD16-035793377066}">
          <p14:sldIdLst>
            <p14:sldId id="2147482664"/>
            <p14:sldId id="295"/>
            <p14:sldId id="2147482655"/>
            <p14:sldId id="2147482657"/>
            <p14:sldId id="2147482658"/>
            <p14:sldId id="2147482659"/>
            <p14:sldId id="2147482666"/>
            <p14:sldId id="2147482665"/>
            <p14:sldId id="2147482660"/>
            <p14:sldId id="2147482656"/>
            <p14:sldId id="2147482662"/>
            <p14:sldId id="2147482667"/>
            <p14:sldId id="2147482663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8FC0C6-6079-4D95-A516-7C09B1BDFB74}" v="22" dt="2026-05-08T06:58:27.383"/>
  </p1510:revLst>
</p1510:revInfo>
</file>

<file path=ppt/tableStyles.xml><?xml version="1.0" encoding="utf-8"?>
<a:tblStyleLst xmlns:a="http://schemas.openxmlformats.org/drawingml/2006/main" def="{C6334807-E537-4099-9411-48B81318F7D4}">
  <a:tblStyle styleId="{C6334807-E537-4099-9411-48B81318F7D4}" styleName="QNX Table - Light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963D177F-057A-4F7D-8082-B162180BF664}" styleName="QNX Table - Dark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5320D358-F853-4E66-A71E-3A9A01236113}" type="datetimeFigureOut">
              <a:rPr lang="de-DE" sz="800" smtClean="0"/>
              <a:t>09.05.2026</a:t>
            </a:fld>
            <a:endParaRPr lang="de-DE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pPr algn="r"/>
            <a:endParaRPr lang="de-DE" sz="8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E5BBCCF6-F8A8-4C49-BF3D-CA1AA74CA975}" type="slidenum">
              <a:rPr lang="de-DE" sz="800" smtClean="0"/>
              <a:t>‹#›</a:t>
            </a:fld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/>
              <a:t>First list level: Large body text in 14 pt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body text in 14 pt</a:t>
            </a:r>
          </a:p>
          <a:p>
            <a:pPr lvl="5"/>
            <a:r>
              <a:rPr lang="en-GB"/>
              <a:t>6th level, subheading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</a:t>
            </a:r>
            <a:r>
              <a:rPr lang="sv-SE"/>
              <a:t>2. bullet list in 10 pt</a:t>
            </a:r>
            <a:endParaRPr lang="en-GB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5320D358-F853-4E66-A71E-3A9A01236113}" type="datetimeFigureOut">
              <a:rPr lang="de-DE" smtClean="0"/>
              <a:pPr/>
              <a:t>09.05.2026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/>
            </a:lvl1pPr>
          </a:lstStyle>
          <a:p>
            <a:pPr algn="r"/>
            <a:endParaRPr lang="de-DE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E5BBCCF6-F8A8-4C49-BF3D-CA1AA74CA97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defRPr sz="1800" b="1" kern="1200">
        <a:solidFill>
          <a:schemeClr val="tx1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Tx/>
      <a:buNone/>
      <a:defRPr sz="1400" b="1" kern="1200">
        <a:solidFill>
          <a:schemeClr val="tx1"/>
        </a:solidFill>
        <a:latin typeface="+mn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B4-6ECE-D15E-BB87-D900B4C8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A8E1E-E19D-8F9B-C6C1-7F9707333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389C9-6732-21E3-DE4F-7A7F942F3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AC5A6-92E7-050A-7E83-1CE80CC86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486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700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2400" y="6525360"/>
            <a:ext cx="230376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9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748590-F732-D074-F771-EDEC6F00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1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56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52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F0C95E3C-E453-EAA2-DD4F-8F0D94035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40FAEA-3B2F-6191-ABB6-8D4D40B0A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BBF7F25-DEE3-0131-6327-0A0331253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6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  <p15:guide id="6" pos="7287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27FF72FB-FAEC-99C2-2194-2B5F63518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E161A-D4C0-A4C6-91D2-EC09DE9E6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48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CCC5F4-A1E7-48AD-5FE3-75380A819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030E40-4DFB-A3E0-8913-CCD465AE7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4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51088" y="1773237"/>
            <a:ext cx="4607737" cy="4464075"/>
          </a:xfr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535864" y="1773782"/>
            <a:ext cx="4032250" cy="4464075"/>
          </a:xfr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0959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351584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7536608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56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FC2E49D-109D-F674-5122-39F1FB910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2139AD-2954-FBFD-3079-17BBEB9E2E8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296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7649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112125" y="0"/>
            <a:ext cx="4079875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8"/>
            <a:ext cx="6911991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7AF223A-9133-4CD7-A24F-37E750D20428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65AA3366-D36B-409F-9579-6FB93E52943B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>
            <a:extLst>
              <a:ext uri="{FF2B5EF4-FFF2-40B4-BE49-F238E27FC236}">
                <a16:creationId xmlns:a16="http://schemas.microsoft.com/office/drawing/2014/main" id="{A6D92AC3-90E1-30AB-3D66-CED09E8EC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87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5184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6383338" y="1773238"/>
            <a:ext cx="518477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83157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3240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4476240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8328608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7090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2304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350371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638403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gray">
          <a:xfrm>
            <a:off x="9263118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12882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345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60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960096" y="1773238"/>
            <a:ext cx="4608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4022514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507138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6953-2E70-0688-8FC9-8BB3D6019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60375E9F-1DDA-9293-C3FF-E9BF4840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tx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E7A0F38-1378-F695-38F8-206336A8527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2635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  <a:p>
            <a:pPr lvl="1"/>
            <a:endParaRPr lang="en-GB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92158078-B084-7032-049C-D8E684B4C9E1}"/>
              </a:ext>
            </a:extLst>
          </p:cNvPr>
          <p:cNvSpPr/>
          <p:nvPr userDrawn="1"/>
        </p:nvSpPr>
        <p:spPr bwMode="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B7ACAED-396E-E25D-4F15-E1673FF66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3899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9599" y="3284984"/>
            <a:ext cx="3457575" cy="2952000"/>
          </a:xfr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  <a:p>
            <a:pPr lvl="3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959600" y="620712"/>
            <a:ext cx="3457575" cy="230400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488C-A96B-B4B3-DB18-1F5E65734A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F607-54F9-CE0E-66F1-C7A641F759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64BB849-B7FC-3952-913B-F400FD508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C2EB24EB-2820-8054-D726-2EC0B4AC5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1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1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ABD0FE-C518-0C23-6BFE-D56030024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7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2132856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3861152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C9DEBE27-D875-6FA1-857C-1FAFA560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2882950-AB80-98BF-7E6A-936E99E2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C13325-40B9-01EA-C2FA-F76B8EC5C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52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A8677481-6FD1-2F5C-6EC4-6BF3EDB4D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CB178-9747-A446-6D94-F3C351A39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69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prstGeom prst="rect">
            <a:avLst/>
          </a:prstGeo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7FF38C0-2225-C9AC-B499-DE83DC535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7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0666" y="1773237"/>
            <a:ext cx="4607737" cy="4464075"/>
          </a:xfrm>
          <a:prstGeom prst="rect">
            <a:avLst/>
          </a:prstGeo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5441" y="1773782"/>
            <a:ext cx="4032671" cy="4464075"/>
          </a:xfrm>
          <a:prstGeom prst="rect">
            <a:avLst/>
          </a:prstGeo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13180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 userDrawn="1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1584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6608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59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75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2444A59-A11B-D30A-1AD5-AC8EE097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4F16516-D1AC-3BC8-1379-009675728DA7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1602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7"/>
            <a:ext cx="10944224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08833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8112125" y="0"/>
            <a:ext cx="4079875" cy="6858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8"/>
            <a:ext cx="6911991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A3918C81-82EA-45E5-9D99-58960B473AC9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937084-D812-3A4B-EA94-E25321C213CE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40ECC1E-161B-90A8-D9F3-B5074030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0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5184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6383338" y="1773238"/>
            <a:ext cx="5184775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442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3240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4476240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8328608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46653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2304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350371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638403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black">
          <a:xfrm>
            <a:off x="9263118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756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3456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3782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960096" y="1773238"/>
            <a:ext cx="4608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188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007421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8ADAD-D679-26B4-4AEF-A682620D5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bg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89324E0-1FA7-5467-7B47-C8D149B0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227408C9-542A-5093-B41C-51761CEAF845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976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1383CA07-6945-F67C-0640-B79EE219FC09}"/>
              </a:ext>
            </a:extLst>
          </p:cNvPr>
          <p:cNvSpPr/>
          <p:nvPr userDrawn="1"/>
        </p:nvSpPr>
        <p:spPr bwMode="inv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19210578-8885-4C18-A4C5-D3918EDD9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52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5491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959599" y="3284984"/>
            <a:ext cx="3457575" cy="2952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black">
          <a:xfrm>
            <a:off x="6959600" y="620712"/>
            <a:ext cx="3457575" cy="230400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7DDDF-C12F-4CD6-ABC5-E6EC2BB846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21251-1225-91AC-8267-5F50CE927D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5EADE93-A9EF-74FA-2C3E-0EAEFCA9C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4645AC1-0063-A4BD-B5E6-1E7196D7B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4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61BDE8A-2C7E-A236-1375-FE495BB9F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98" r:id="rId3"/>
    <p:sldLayoutId id="2147483673" r:id="rId4"/>
    <p:sldLayoutId id="2147483668" r:id="rId5"/>
    <p:sldLayoutId id="2147483701" r:id="rId6"/>
    <p:sldLayoutId id="2147483661" r:id="rId7"/>
    <p:sldLayoutId id="2147483651" r:id="rId8"/>
    <p:sldLayoutId id="2147483670" r:id="rId9"/>
    <p:sldLayoutId id="2147483650" r:id="rId10"/>
    <p:sldLayoutId id="2147483663" r:id="rId11"/>
    <p:sldLayoutId id="2147483652" r:id="rId12"/>
    <p:sldLayoutId id="2147483659" r:id="rId13"/>
    <p:sldLayoutId id="2147483664" r:id="rId14"/>
    <p:sldLayoutId id="2147483656" r:id="rId15"/>
    <p:sldLayoutId id="2147483671" r:id="rId16"/>
    <p:sldLayoutId id="2147483657" r:id="rId17"/>
    <p:sldLayoutId id="2147483658" r:id="rId18"/>
    <p:sldLayoutId id="2147483672" r:id="rId19"/>
    <p:sldLayoutId id="2147483654" r:id="rId20"/>
    <p:sldLayoutId id="2147483662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black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FE5AECB-59B3-7CC7-86CF-79C41D76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7" r:id="rId2"/>
    <p:sldLayoutId id="2147483699" r:id="rId3"/>
    <p:sldLayoutId id="2147483695" r:id="rId4"/>
    <p:sldLayoutId id="2147483679" r:id="rId5"/>
    <p:sldLayoutId id="2147483700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FE41-95C8-9393-215B-62CED757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8043A1-310A-B52C-CD92-D9214849F47F}"/>
              </a:ext>
            </a:extLst>
          </p:cNvPr>
          <p:cNvSpPr/>
          <p:nvPr/>
        </p:nvSpPr>
        <p:spPr bwMode="gray">
          <a:xfrm>
            <a:off x="0" y="1809995"/>
            <a:ext cx="12192000" cy="418011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DD886-F601-E5AB-B640-67558F808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996"/>
            <a:ext cx="12192000" cy="4180114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897E70-238A-7AA1-08EB-7B0565F45D6F}"/>
              </a:ext>
            </a:extLst>
          </p:cNvPr>
          <p:cNvSpPr/>
          <p:nvPr/>
        </p:nvSpPr>
        <p:spPr bwMode="gray">
          <a:xfrm>
            <a:off x="6236207" y="2004289"/>
            <a:ext cx="5881901" cy="37499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DA226C-3081-BABB-ACE7-6B5B5BC78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04" y="144297"/>
            <a:ext cx="1962424" cy="10097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EF35BA-09B4-C388-67D6-C0038BBBB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616" y="429861"/>
            <a:ext cx="2938156" cy="6670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57C31F-DE7B-C14D-E209-79C203CA9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5241" y="283687"/>
            <a:ext cx="1586287" cy="7493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F73912-A256-34F3-2422-74176D921AD3}"/>
              </a:ext>
            </a:extLst>
          </p:cNvPr>
          <p:cNvSpPr txBox="1"/>
          <p:nvPr/>
        </p:nvSpPr>
        <p:spPr bwMode="gray">
          <a:xfrm>
            <a:off x="6541008" y="2385365"/>
            <a:ext cx="5350764" cy="55456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rgbClr val="EF4C37"/>
                </a:solidFill>
              </a:rPr>
              <a:t>National Level Hackathon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BD3C3E54-E206-5388-F17E-C82C4A47C67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6541008" y="3803221"/>
            <a:ext cx="5350764" cy="666215"/>
          </a:xfrm>
        </p:spPr>
        <p:txBody>
          <a:bodyPr/>
          <a:lstStyle/>
          <a:p>
            <a:r>
              <a:rPr lang="en-GB" sz="3600" b="1" dirty="0"/>
              <a:t>Software-Defined Vehicle &amp; Cockpit safety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2505DB27-A791-37FE-029A-838093D04BF1}"/>
              </a:ext>
            </a:extLst>
          </p:cNvPr>
          <p:cNvSpPr txBox="1">
            <a:spLocks/>
          </p:cNvSpPr>
          <p:nvPr/>
        </p:nvSpPr>
        <p:spPr bwMode="gray">
          <a:xfrm>
            <a:off x="6541008" y="5259514"/>
            <a:ext cx="5350764" cy="4297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i="0" kern="1200">
                <a:solidFill>
                  <a:schemeClr val="tx1"/>
                </a:solidFill>
                <a:latin typeface="Onest Medium" pitchFamily="2" charset="0"/>
                <a:ea typeface="+mj-ea"/>
                <a:cs typeface="+mj-cs"/>
              </a:defRPr>
            </a:lvl1pPr>
          </a:lstStyle>
          <a:p>
            <a:pPr>
              <a:spcAft>
                <a:spcPts val="0"/>
              </a:spcAft>
              <a:buFontTx/>
            </a:pPr>
            <a:r>
              <a:rPr lang="en-GB" sz="1800" dirty="0"/>
              <a:t>QNX architecture that isolates heavy infotainment graphics from safety-critical autonomous braking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D836B543-A2E3-B741-8520-921FAE3E1D18}"/>
              </a:ext>
            </a:extLst>
          </p:cNvPr>
          <p:cNvSpPr txBox="1">
            <a:spLocks/>
          </p:cNvSpPr>
          <p:nvPr/>
        </p:nvSpPr>
        <p:spPr>
          <a:xfrm>
            <a:off x="6442685" y="3239758"/>
            <a:ext cx="5184000" cy="37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50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08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solidFill>
                  <a:srgbClr val="0070C0"/>
                </a:solidFill>
              </a:rPr>
              <a:t>Team Dynamo</a:t>
            </a:r>
          </a:p>
        </p:txBody>
      </p:sp>
    </p:spTree>
    <p:extLst>
      <p:ext uri="{BB962C8B-B14F-4D97-AF65-F5344CB8AC3E}">
        <p14:creationId xmlns:p14="http://schemas.microsoft.com/office/powerpoint/2010/main" val="55603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AAD404-DED0-F75F-4FE3-9A65F6218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C8EA9C-6943-FA0B-9182-589EEAF57F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1852" y="1772816"/>
            <a:ext cx="5183999" cy="504056"/>
          </a:xfrm>
        </p:spPr>
        <p:txBody>
          <a:bodyPr/>
          <a:lstStyle/>
          <a:p>
            <a:r>
              <a:rPr lang="en-GB" dirty="0"/>
              <a:t>Section 01.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A68641-AE96-FFB2-85C5-DA9FE212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52" y="2348880"/>
            <a:ext cx="5184000" cy="1223936"/>
          </a:xfrm>
        </p:spPr>
        <p:txBody>
          <a:bodyPr/>
          <a:lstStyle/>
          <a:p>
            <a:r>
              <a:rPr lang="en-GB" dirty="0"/>
              <a:t>Design and Execution</a:t>
            </a:r>
          </a:p>
        </p:txBody>
      </p:sp>
    </p:spTree>
    <p:extLst>
      <p:ext uri="{BB962C8B-B14F-4D97-AF65-F5344CB8AC3E}">
        <p14:creationId xmlns:p14="http://schemas.microsoft.com/office/powerpoint/2010/main" val="1115137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E323-E944-9C18-947A-2B44D160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DD24EE-86BC-68D1-D5AE-0614A620C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FC2A3EE-B4F3-F2A7-BDE6-7EC05D7856C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GB" dirty="0"/>
              <a:t>Title </a:t>
            </a:r>
            <a:r>
              <a:rPr lang="en-US" dirty="0"/>
              <a:t>&amp; Team Identity</a:t>
            </a:r>
            <a:endParaRPr lang="en-GB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D21BF8B-937E-6C3F-6FE7-52A116952A38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/>
          <a:p>
            <a:pPr lvl="1" fontAlgn="base"/>
            <a:r>
              <a:rPr lang="en-US" altLang="en-US" sz="2000" b="1" dirty="0"/>
              <a:t>Project Name: </a:t>
            </a:r>
            <a:r>
              <a:rPr lang="en-US" altLang="en-US" sz="2000" dirty="0">
                <a:latin typeface="+mn-lt"/>
              </a:rPr>
              <a:t>Software-Defined Vehicle &amp; Cockpit safety</a:t>
            </a:r>
          </a:p>
          <a:p>
            <a:pPr lvl="1" fontAlgn="base"/>
            <a:r>
              <a:rPr lang="en-US" altLang="en-US" sz="2000" b="1" dirty="0"/>
              <a:t>Theme Selected: </a:t>
            </a:r>
            <a:r>
              <a:rPr lang="en-US" altLang="en-US" sz="2000" b="1" dirty="0">
                <a:latin typeface="+mn-lt"/>
              </a:rPr>
              <a:t> </a:t>
            </a:r>
            <a:r>
              <a:rPr lang="en-US" altLang="en-US" sz="2000" dirty="0">
                <a:latin typeface="+mn-lt"/>
              </a:rPr>
              <a:t>Safety-Critical Alerts with Lag less response</a:t>
            </a:r>
            <a:br>
              <a:rPr lang="en-US" altLang="en-US" sz="2000" dirty="0">
                <a:latin typeface="+mn-lt"/>
              </a:rPr>
            </a:br>
            <a:br>
              <a:rPr lang="en-US" altLang="en-US" sz="2000" dirty="0">
                <a:latin typeface="+mn-lt"/>
              </a:rPr>
            </a:br>
            <a:r>
              <a:rPr lang="en-US" altLang="en-US" sz="2000" b="1" dirty="0"/>
              <a:t>Team Name &amp; City: </a:t>
            </a:r>
            <a:r>
              <a:rPr lang="en-US" altLang="en-US" sz="2000" dirty="0"/>
              <a:t>Dynamo, Mangalore</a:t>
            </a:r>
          </a:p>
          <a:p>
            <a:pPr lvl="1" fontAlgn="base"/>
            <a:r>
              <a:rPr lang="en-GB" altLang="en-US" sz="2000" dirty="0"/>
              <a:t>M</a:t>
            </a:r>
            <a:r>
              <a:rPr lang="en-GB" sz="2000" dirty="0"/>
              <a:t>ulti-core processing to completely isolate an infotainment display from an autonomous braking system with </a:t>
            </a:r>
            <a:r>
              <a:rPr lang="en-IN" sz="2000" dirty="0"/>
              <a:t>safety-critical motor responses</a:t>
            </a:r>
            <a:endParaRPr lang="en-US" altLang="en-US" sz="2000" dirty="0">
              <a:latin typeface="+mn-lt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851463-85FC-C64D-712F-284884550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 dirty="0"/>
              <a:t>Design and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28803-B856-5518-43AB-3F53852BF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3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F2D68-3D29-F496-362F-2C549E25C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71A3458-C0A6-8F18-DAE4-6F9BE2E4C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0B7DC52-5B75-60FD-0D60-8DABBD4EDFE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Problem Synthesis &amp; Scenario</a:t>
            </a:r>
            <a:endParaRPr lang="en-GB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52AD14-C0A1-4B87-85A9-431C361B929F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57809" y="1773238"/>
            <a:ext cx="10944224" cy="4464075"/>
          </a:xfrm>
        </p:spPr>
        <p:txBody>
          <a:bodyPr/>
          <a:lstStyle/>
          <a:p>
            <a:r>
              <a:rPr lang="en-GB" sz="2000" b="1" dirty="0"/>
              <a:t>The Scenario:</a:t>
            </a:r>
            <a:r>
              <a:rPr lang="en-GB" sz="2000" dirty="0"/>
              <a:t> In Software-Defined Vehicles, heavy infotainment graphics can starve the CPU, delaying 	safety-critical sensor responses like pedestrian detection.</a:t>
            </a:r>
            <a:br>
              <a:rPr lang="en-GB" sz="2000" dirty="0"/>
            </a:br>
            <a:r>
              <a:rPr lang="en-GB" sz="2000" dirty="0"/>
              <a:t> </a:t>
            </a:r>
          </a:p>
          <a:p>
            <a:r>
              <a:rPr lang="en-GB" sz="2000" b="1" dirty="0"/>
              <a:t>Criticality:</a:t>
            </a:r>
            <a:r>
              <a:rPr lang="en-GB" sz="2000" dirty="0"/>
              <a:t> A microsecond delay in braking when a pedestrian is detected can cause a fatal collision. 	 "Deterministic Execution" is required to guarantee the braking system reacts instantly, regardless 	  of media load. </a:t>
            </a:r>
            <a:br>
              <a:rPr lang="en-GB" sz="2000" dirty="0"/>
            </a:br>
            <a:endParaRPr lang="en-GB" sz="2000" dirty="0"/>
          </a:p>
          <a:p>
            <a:r>
              <a:rPr lang="en-GB" sz="2000" b="1" dirty="0"/>
              <a:t>Success Metric:</a:t>
            </a:r>
            <a:r>
              <a:rPr lang="en-GB" sz="2000" dirty="0"/>
              <a:t> Maintain sub-millisecond response times for the Guardian braking process while </a:t>
            </a:r>
            <a:r>
              <a:rPr lang="en-GB" sz="2000" b="1" dirty="0"/>
              <a:t>Core 3</a:t>
            </a:r>
            <a:r>
              <a:rPr lang="en-GB" sz="2000" dirty="0"/>
              <a:t> 	              runs heavy media graphics.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B8386DE-B0CA-B430-4763-073FB287D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 dirty="0"/>
              <a:t>Design and Execution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9D023F-4C7A-00C9-130D-D97B15A70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3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A877-05DA-5AD5-C1EE-EE47A693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102912-9A6C-96DE-7A6D-462EA163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73336FB-256D-F8C5-EAC3-6EE92DC72FC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QNX Architectural Approach</a:t>
            </a:r>
            <a:endParaRPr lang="en-GB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E319DD6-6BC4-7715-65D6-AD6FEAA0C8F0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379398"/>
            <a:ext cx="10944224" cy="446407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80"/>
              </a:spcAft>
            </a:pPr>
            <a:r>
              <a:rPr lang="en-IN" sz="2000" b="1" dirty="0"/>
              <a:t>Microkernel Strategy:</a:t>
            </a:r>
            <a:r>
              <a:rPr lang="en-IN" sz="2000" dirty="0"/>
              <a:t> Leveraged strict IPC messaging for deterministic sensor-to-brake communication and fork</a:t>
            </a:r>
            <a:r>
              <a:rPr lang="en-IN" sz="2000" dirty="0">
                <a:latin typeface="+mj-lt"/>
              </a:rPr>
              <a:t>()</a:t>
            </a:r>
            <a:r>
              <a:rPr lang="en-IN" sz="3200" dirty="0">
                <a:latin typeface="+mj-lt"/>
              </a:rPr>
              <a:t> </a:t>
            </a:r>
            <a:r>
              <a:rPr lang="en-IN" sz="2000" dirty="0"/>
              <a:t>for automated system resilience. </a:t>
            </a:r>
          </a:p>
          <a:p>
            <a:endParaRPr lang="en-IN" sz="2000" dirty="0"/>
          </a:p>
          <a:p>
            <a:r>
              <a:rPr lang="en-IN" sz="2000" b="1" dirty="0"/>
              <a:t>Resource Isolation (Thread Affinity):</a:t>
            </a:r>
            <a:r>
              <a:rPr lang="en-IN" sz="2000" dirty="0"/>
              <a:t> </a:t>
            </a:r>
          </a:p>
          <a:p>
            <a:r>
              <a:rPr lang="en-IN" sz="2000" b="1" dirty="0"/>
              <a:t>Core 0:</a:t>
            </a:r>
            <a:r>
              <a:rPr lang="en-IN" sz="2000" dirty="0"/>
              <a:t> Safety Guardian (Isolated Vehicle Braking)</a:t>
            </a:r>
          </a:p>
          <a:p>
            <a:r>
              <a:rPr lang="en-IN" sz="2000" b="1" dirty="0"/>
              <a:t>Core 1:</a:t>
            </a:r>
            <a:r>
              <a:rPr lang="en-IN" sz="2000" dirty="0"/>
              <a:t> HAM Watchdog (Isolated System Supervisor)</a:t>
            </a:r>
          </a:p>
          <a:p>
            <a:r>
              <a:rPr lang="en-IN" sz="2000" b="1" dirty="0"/>
              <a:t>Core 2:</a:t>
            </a:r>
            <a:r>
              <a:rPr lang="en-IN" sz="2000" dirty="0"/>
              <a:t> Sensor Fusion &amp; Telemetry (Ultrasonic, PIR, MPU, Hall, Touch)</a:t>
            </a:r>
          </a:p>
          <a:p>
            <a:r>
              <a:rPr lang="en-IN" sz="2000" b="1" dirty="0"/>
              <a:t>Core 3:</a:t>
            </a:r>
            <a:r>
              <a:rPr lang="en-IN" sz="2000" dirty="0"/>
              <a:t> Infotainment OLED (Isolated Media Player)</a:t>
            </a:r>
          </a:p>
          <a:p>
            <a:endParaRPr lang="en-IN" sz="2000" dirty="0"/>
          </a:p>
          <a:p>
            <a:r>
              <a:rPr lang="en-IN" sz="2000" b="1" dirty="0"/>
              <a:t>Priority Setup:</a:t>
            </a:r>
            <a:r>
              <a:rPr lang="en-IN" sz="2000" dirty="0"/>
              <a:t> Touch Sensor manually overrides at the highest priority; Guardian runs at high priority; Infotainment relegated to lowest priority.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CD74172-BF54-461F-90E4-43392F084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 dirty="0"/>
              <a:t>Design and Execution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761A9E-B095-7540-7592-BED67D24A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71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D76F-8378-D232-3FE3-4A6AB0BF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5495C2-BA14-D41C-C129-50A77EBE8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28CED4A-5028-4DD0-838E-BA873F9BA2A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Technical Execution (Hardware &amp; Logic)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B49FB29-D22C-294E-4C3C-3CA62F06365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/>
              <a:t>Block Diagram:</a:t>
            </a:r>
            <a:endParaRPr lang="en-US" sz="200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1A2076-B9BD-803B-BC85-ADE20F5E2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 dirty="0"/>
              <a:t>Design and Execution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7FE15A-0438-802A-F0E5-91E14A415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D2DE61-F1DC-6074-33B5-0A0663E3C7D3}"/>
              </a:ext>
            </a:extLst>
          </p:cNvPr>
          <p:cNvSpPr txBox="1"/>
          <p:nvPr/>
        </p:nvSpPr>
        <p:spPr bwMode="gray">
          <a:xfrm>
            <a:off x="2918460" y="3119952"/>
            <a:ext cx="6182360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7F4DB1-1320-BE15-98C5-8C05E557B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5000"/>
                    </a14:imgEffect>
                  </a14:imgLayer>
                </a14:imgProps>
              </a:ext>
            </a:extLst>
          </a:blip>
          <a:srcRect b="18759"/>
          <a:stretch>
            <a:fillRect/>
          </a:stretch>
        </p:blipFill>
        <p:spPr>
          <a:xfrm>
            <a:off x="2545621" y="980663"/>
            <a:ext cx="6524502" cy="540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9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E32C5-55C2-557A-930B-3E9678678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6AA1759-4C8D-59DD-727B-EAADE04F1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0568629-8D10-73C7-899C-016B6AA7D15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Technical Execution (Hardware &amp; Logic)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7ED69FA-1DCA-2C49-92CE-6853D37642AF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070134"/>
            <a:ext cx="10944224" cy="44640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/>
              <a:t>RPi Integration:</a:t>
            </a:r>
            <a:r>
              <a:rPr lang="en-US" sz="2000" dirty="0"/>
              <a:t> Which GPIOs, interrupts, or hardware interfaces did you utilize?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CB18BC-9B31-9B9A-DA56-C7439203E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 dirty="0"/>
              <a:t>Design and Execution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21AAC-4377-05C8-66C3-BE7402E06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  <p:sp>
        <p:nvSpPr>
          <p:cNvPr id="4" name="Google Shape;118;p16">
            <a:extLst>
              <a:ext uri="{FF2B5EF4-FFF2-40B4-BE49-F238E27FC236}">
                <a16:creationId xmlns:a16="http://schemas.microsoft.com/office/drawing/2014/main" id="{C8DCBFE2-801A-BEBA-AFF9-E5E2C76E901B}"/>
              </a:ext>
            </a:extLst>
          </p:cNvPr>
          <p:cNvSpPr/>
          <p:nvPr/>
        </p:nvSpPr>
        <p:spPr>
          <a:xfrm>
            <a:off x="5688414" y="4987307"/>
            <a:ext cx="993826" cy="994052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solidFill>
              <a:srgbClr val="232729"/>
            </a:solidFill>
            <a:prstDash val="lgDash"/>
          </a:ln>
        </p:spPr>
        <p:txBody>
          <a:bodyPr spcFirstLastPara="1" wrap="square" lIns="112325" tIns="112325" rIns="112325" bIns="1123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endParaRPr sz="172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18;p16">
            <a:extLst>
              <a:ext uri="{FF2B5EF4-FFF2-40B4-BE49-F238E27FC236}">
                <a16:creationId xmlns:a16="http://schemas.microsoft.com/office/drawing/2014/main" id="{ED66DC7B-AB4B-33AC-E60F-8FE848AC0EC0}"/>
              </a:ext>
            </a:extLst>
          </p:cNvPr>
          <p:cNvSpPr/>
          <p:nvPr/>
        </p:nvSpPr>
        <p:spPr>
          <a:xfrm>
            <a:off x="3473550" y="4987307"/>
            <a:ext cx="993826" cy="994052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solidFill>
              <a:srgbClr val="232729"/>
            </a:solidFill>
            <a:prstDash val="lgDash"/>
          </a:ln>
        </p:spPr>
        <p:txBody>
          <a:bodyPr spcFirstLastPara="1" wrap="square" lIns="112325" tIns="112325" rIns="112325" bIns="1123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endParaRPr sz="172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18;p16">
            <a:extLst>
              <a:ext uri="{FF2B5EF4-FFF2-40B4-BE49-F238E27FC236}">
                <a16:creationId xmlns:a16="http://schemas.microsoft.com/office/drawing/2014/main" id="{669D3AEB-2622-DB85-F95F-7DC6FCBA6F26}"/>
              </a:ext>
            </a:extLst>
          </p:cNvPr>
          <p:cNvSpPr/>
          <p:nvPr/>
        </p:nvSpPr>
        <p:spPr>
          <a:xfrm>
            <a:off x="10118142" y="4988118"/>
            <a:ext cx="993826" cy="994052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solidFill>
              <a:srgbClr val="232729"/>
            </a:solidFill>
            <a:prstDash val="lgDash"/>
          </a:ln>
        </p:spPr>
        <p:txBody>
          <a:bodyPr spcFirstLastPara="1" wrap="square" lIns="112325" tIns="112325" rIns="112325" bIns="1123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endParaRPr sz="172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8;p16">
            <a:extLst>
              <a:ext uri="{FF2B5EF4-FFF2-40B4-BE49-F238E27FC236}">
                <a16:creationId xmlns:a16="http://schemas.microsoft.com/office/drawing/2014/main" id="{3E6E050D-6288-DE1E-7098-206D66E56AE6}"/>
              </a:ext>
            </a:extLst>
          </p:cNvPr>
          <p:cNvSpPr/>
          <p:nvPr/>
        </p:nvSpPr>
        <p:spPr>
          <a:xfrm>
            <a:off x="10118142" y="3272317"/>
            <a:ext cx="993826" cy="994052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>
            <a:solidFill>
              <a:srgbClr val="232729"/>
            </a:solidFill>
            <a:prstDash val="lgDash"/>
          </a:ln>
        </p:spPr>
        <p:txBody>
          <a:bodyPr spcFirstLastPara="1" wrap="square" lIns="112325" tIns="112325" rIns="112325" bIns="1123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endParaRPr sz="172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18;p16">
            <a:extLst>
              <a:ext uri="{FF2B5EF4-FFF2-40B4-BE49-F238E27FC236}">
                <a16:creationId xmlns:a16="http://schemas.microsoft.com/office/drawing/2014/main" id="{E6DDEE73-6321-A470-EC1C-7C4C52AB4663}"/>
              </a:ext>
            </a:extLst>
          </p:cNvPr>
          <p:cNvSpPr/>
          <p:nvPr/>
        </p:nvSpPr>
        <p:spPr>
          <a:xfrm>
            <a:off x="7903278" y="4987307"/>
            <a:ext cx="993826" cy="994052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>
            <a:solidFill>
              <a:srgbClr val="232729"/>
            </a:solidFill>
            <a:prstDash val="lgDash"/>
          </a:ln>
        </p:spPr>
        <p:txBody>
          <a:bodyPr spcFirstLastPara="1" wrap="square" lIns="112325" tIns="112325" rIns="112325" bIns="1123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endParaRPr sz="172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18;p16">
            <a:extLst>
              <a:ext uri="{FF2B5EF4-FFF2-40B4-BE49-F238E27FC236}">
                <a16:creationId xmlns:a16="http://schemas.microsoft.com/office/drawing/2014/main" id="{6D009844-3E77-F290-2827-616844BAC75A}"/>
              </a:ext>
            </a:extLst>
          </p:cNvPr>
          <p:cNvSpPr/>
          <p:nvPr/>
        </p:nvSpPr>
        <p:spPr>
          <a:xfrm>
            <a:off x="10118142" y="1556516"/>
            <a:ext cx="993826" cy="994052"/>
          </a:xfrm>
          <a:prstGeom prst="ellipse">
            <a:avLst/>
          </a:prstGeom>
          <a:blipFill rotWithShape="1">
            <a:blip r:embed="rId8"/>
            <a:stretch>
              <a:fillRect/>
            </a:stretch>
          </a:blipFill>
          <a:ln>
            <a:solidFill>
              <a:srgbClr val="232729"/>
            </a:solidFill>
            <a:prstDash val="lgDash"/>
          </a:ln>
        </p:spPr>
        <p:txBody>
          <a:bodyPr spcFirstLastPara="1" wrap="square" lIns="112325" tIns="112325" rIns="112325" bIns="1123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endParaRPr sz="172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DB219E-A780-A711-70AD-3CA7BE45E15A}"/>
              </a:ext>
            </a:extLst>
          </p:cNvPr>
          <p:cNvSpPr txBox="1"/>
          <p:nvPr/>
        </p:nvSpPr>
        <p:spPr bwMode="gray">
          <a:xfrm>
            <a:off x="2918460" y="3119952"/>
            <a:ext cx="6182360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2494F8-E06D-870A-F1AF-930EFFCFD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587315"/>
              </p:ext>
            </p:extLst>
          </p:nvPr>
        </p:nvGraphicFramePr>
        <p:xfrm>
          <a:off x="898192" y="1620893"/>
          <a:ext cx="7687008" cy="2973519"/>
        </p:xfrm>
        <a:graphic>
          <a:graphicData uri="http://schemas.openxmlformats.org/drawingml/2006/table">
            <a:tbl>
              <a:tblPr/>
              <a:tblGrid>
                <a:gridCol w="2736056">
                  <a:extLst>
                    <a:ext uri="{9D8B030D-6E8A-4147-A177-3AD203B41FA5}">
                      <a16:colId xmlns:a16="http://schemas.microsoft.com/office/drawing/2014/main" val="147765754"/>
                    </a:ext>
                  </a:extLst>
                </a:gridCol>
                <a:gridCol w="2736056">
                  <a:extLst>
                    <a:ext uri="{9D8B030D-6E8A-4147-A177-3AD203B41FA5}">
                      <a16:colId xmlns:a16="http://schemas.microsoft.com/office/drawing/2014/main" val="1084960154"/>
                    </a:ext>
                  </a:extLst>
                </a:gridCol>
                <a:gridCol w="2214896">
                  <a:extLst>
                    <a:ext uri="{9D8B030D-6E8A-4147-A177-3AD203B41FA5}">
                      <a16:colId xmlns:a16="http://schemas.microsoft.com/office/drawing/2014/main" val="2258245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Signal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Pi Physical Pin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761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OLED (I2C)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SDA / SCL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Pin 3 / 5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162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MPU6050 (I2C)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SDA / SCL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Pin 3 / 5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110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Ultrasonic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TRIG / ECHO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Pin 16 / 18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37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PIR Sensor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OUT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Pin 22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867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Hall Effect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OUT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Pin 11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244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Touch Sensor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OUT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Pin 12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744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Motor Relay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IN1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Pin 13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653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Buzzer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(+)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Pin 15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551841"/>
                  </a:ext>
                </a:extLst>
              </a:tr>
            </a:tbl>
          </a:graphicData>
        </a:graphic>
      </p:graphicFrame>
      <p:sp>
        <p:nvSpPr>
          <p:cNvPr id="14" name="Google Shape;118;p16">
            <a:extLst>
              <a:ext uri="{FF2B5EF4-FFF2-40B4-BE49-F238E27FC236}">
                <a16:creationId xmlns:a16="http://schemas.microsoft.com/office/drawing/2014/main" id="{CEB28D24-96FC-4909-D5B0-6841FFFF7830}"/>
              </a:ext>
            </a:extLst>
          </p:cNvPr>
          <p:cNvSpPr/>
          <p:nvPr/>
        </p:nvSpPr>
        <p:spPr>
          <a:xfrm>
            <a:off x="1258686" y="4933052"/>
            <a:ext cx="993826" cy="994052"/>
          </a:xfrm>
          <a:prstGeom prst="ellipse">
            <a:avLst/>
          </a:prstGeom>
          <a:blipFill rotWithShape="1">
            <a:blip r:embed="rId9"/>
            <a:stretch>
              <a:fillRect/>
            </a:stretch>
          </a:blipFill>
          <a:ln>
            <a:solidFill>
              <a:srgbClr val="232729"/>
            </a:solidFill>
            <a:prstDash val="lgDash"/>
          </a:ln>
        </p:spPr>
        <p:txBody>
          <a:bodyPr spcFirstLastPara="1" wrap="square" lIns="112325" tIns="112325" rIns="112325" bIns="1123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endParaRPr sz="172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9902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435DF-AC56-6AD9-7F6E-1F5832C8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E65B41B-C89D-1CA7-676F-B7654011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A2B64A8-35E7-D5B5-48C1-E9CE73268F9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Technical Execution (Hardware &amp; Logic)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E6771B7-A52B-4F1D-DE72-4934A6918DAF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379398"/>
            <a:ext cx="10944224" cy="4464075"/>
          </a:xfrm>
        </p:spPr>
        <p:txBody>
          <a:bodyPr/>
          <a:lstStyle/>
          <a:p>
            <a:r>
              <a:rPr lang="en-US" sz="2400" b="1" dirty="0"/>
              <a:t>The Logic:</a:t>
            </a:r>
            <a:r>
              <a:rPr lang="en-US" sz="2400" dirty="0"/>
              <a:t> </a:t>
            </a:r>
          </a:p>
          <a:p>
            <a:br>
              <a:rPr lang="en-US" sz="2000" dirty="0"/>
            </a:br>
            <a:r>
              <a:rPr lang="en-US" sz="2000" dirty="0"/>
              <a:t>	</a:t>
            </a:r>
            <a:r>
              <a:rPr lang="en-GB" sz="2000" b="1" dirty="0"/>
              <a:t>Start/Stop:</a:t>
            </a:r>
            <a:r>
              <a:rPr lang="en-GB" sz="2000" dirty="0"/>
              <a:t> Motor starts idle; toggled manually via the high-priority Touch Sensor.</a:t>
            </a:r>
          </a:p>
          <a:p>
            <a:endParaRPr lang="en-GB" sz="2000" dirty="0"/>
          </a:p>
          <a:p>
            <a:r>
              <a:rPr lang="en-GB" sz="2000" b="1" dirty="0"/>
              <a:t>	Smart Polling:</a:t>
            </a:r>
            <a:r>
              <a:rPr lang="en-GB" sz="2000" dirty="0"/>
              <a:t> Ultrasonic proximity is </a:t>
            </a:r>
            <a:r>
              <a:rPr lang="en-GB" sz="2000" i="1" dirty="0"/>
              <a:t>only</a:t>
            </a:r>
            <a:r>
              <a:rPr lang="en-GB" sz="2000" dirty="0"/>
              <a:t> read if the Hall Sensor confirms the motor is running.</a:t>
            </a:r>
          </a:p>
          <a:p>
            <a:endParaRPr lang="en-GB" sz="2000" dirty="0"/>
          </a:p>
          <a:p>
            <a:r>
              <a:rPr lang="en-GB" sz="2000" b="1" dirty="0"/>
              <a:t>	Sensor Fusion Brakes:</a:t>
            </a:r>
            <a:r>
              <a:rPr lang="en-GB" sz="2000" dirty="0"/>
              <a:t> Brakes engage </a:t>
            </a:r>
            <a:r>
              <a:rPr lang="en-GB" sz="2000" i="1" dirty="0"/>
              <a:t>only</a:t>
            </a:r>
            <a:r>
              <a:rPr lang="en-GB" sz="2000" dirty="0"/>
              <a:t> if BOTH Ultrasonic (proximity) and PIR (motion) verify 			         a pedestrian to prevent false triggers.</a:t>
            </a:r>
          </a:p>
          <a:p>
            <a:endParaRPr lang="en-GB" sz="2000" dirty="0"/>
          </a:p>
          <a:p>
            <a:r>
              <a:rPr lang="en-GB" sz="2000" b="1" dirty="0"/>
              <a:t>	Crash Sim:</a:t>
            </a:r>
            <a:r>
              <a:rPr lang="en-GB" sz="2000" dirty="0"/>
              <a:t> MPU detects sudden jerks, triggering an LED to simulate airbag deployment.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75EE8AD-B4BE-04E8-9D29-D3ED4B3EF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 dirty="0"/>
              <a:t>Design and Execution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CBF1AE-A9E4-5E2E-54A1-0CB6A9BDC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E38021E-5761-C3F1-E8C0-EB7648507364}"/>
              </a:ext>
            </a:extLst>
          </p:cNvPr>
          <p:cNvSpPr txBox="1"/>
          <p:nvPr/>
        </p:nvSpPr>
        <p:spPr bwMode="gray">
          <a:xfrm>
            <a:off x="2918460" y="3119952"/>
            <a:ext cx="6182360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136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4FA9-E1B4-8466-BD8D-B0FB99C0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A84091-A99D-82C0-0886-0B8A6DF0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A08878D-F475-89A8-C865-0D7A44D2C2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Resilience &amp; "The Hack" Response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A53C17F-FB54-DDFA-4DCA-518E4CC2F96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/>
          <a:p>
            <a:r>
              <a:rPr lang="en-GB" sz="2000" b="1" dirty="0"/>
              <a:t>The Vulnerability:</a:t>
            </a:r>
            <a:r>
              <a:rPr lang="en-GB" sz="2000" dirty="0"/>
              <a:t> The "Hack" simulates a catastrophic software failure where the Core 0 Guardian process crashes or dies unexpectedly. </a:t>
            </a:r>
          </a:p>
          <a:p>
            <a:endParaRPr lang="en-GB" sz="2000" dirty="0"/>
          </a:p>
          <a:p>
            <a:r>
              <a:rPr lang="en-GB" sz="2000" b="1" dirty="0"/>
              <a:t>Mitigation Strategy:</a:t>
            </a:r>
            <a:r>
              <a:rPr lang="en-GB" sz="2000" dirty="0"/>
              <a:t> The HAM (High-Availability Manager) isolated on Core 1 continuously monitors the Guardian. Upon failure, HAM uses fork</a:t>
            </a:r>
            <a:r>
              <a:rPr lang="en-GB" sz="1800" dirty="0"/>
              <a:t>()</a:t>
            </a:r>
            <a:r>
              <a:rPr lang="en-GB" sz="2000" dirty="0"/>
              <a:t> to instantly rebuild and restart the Guardian process. </a:t>
            </a:r>
            <a:br>
              <a:rPr lang="en-GB" sz="2000" dirty="0"/>
            </a:br>
            <a:endParaRPr lang="en-GB" sz="2000" dirty="0"/>
          </a:p>
          <a:p>
            <a:r>
              <a:rPr lang="en-GB" sz="2000" b="1" dirty="0"/>
              <a:t>Recovery Data:</a:t>
            </a:r>
            <a:r>
              <a:rPr lang="en-GB" sz="2000" dirty="0"/>
              <a:t> Achieved near-instant Recovery Time Objective (RTO), ensuring the safety-critical braking system is never offline for more than a few milliseconds.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A62FEF8-2D04-DA96-487E-8CB2CEF0D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 dirty="0"/>
              <a:t>Design and Execution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F4FBD-09A3-184F-DD27-AD5532D3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05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D557D-1338-93D8-3FB5-22080EDB9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3B4A4F-B72F-D1FB-B7E0-C855B5802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A642E5-4AC3-418B-C746-AEEA544915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1852" y="1772816"/>
            <a:ext cx="5183999" cy="504056"/>
          </a:xfrm>
        </p:spPr>
        <p:txBody>
          <a:bodyPr/>
          <a:lstStyle/>
          <a:p>
            <a:r>
              <a:rPr lang="en-GB" dirty="0"/>
              <a:t>Section 02.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2A205A-1FAE-A09E-44D1-313D2233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52" y="2348880"/>
            <a:ext cx="5184000" cy="1223936"/>
          </a:xfrm>
        </p:spPr>
        <p:txBody>
          <a:bodyPr/>
          <a:lstStyle/>
          <a:p>
            <a:r>
              <a:rPr lang="en-GB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406942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8573-C84A-83F4-1C50-1A15F049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B69A53A-B832-E49D-072C-F7189CBBD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FEC246-0678-518C-D44B-1678663EA76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Performance Proof (The Profiler Slide)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C408771-586A-C96F-CC2A-DD8D01EBCFA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918512" y="1738270"/>
            <a:ext cx="10944224" cy="44640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/>
              <a:t>System Profiler Screenshot:</a:t>
            </a:r>
            <a:r>
              <a:rPr lang="en-US" sz="2000" dirty="0"/>
              <a:t> </a:t>
            </a:r>
            <a:r>
              <a:rPr lang="en-US" sz="2000" b="1" dirty="0"/>
              <a:t>(Mandatory)</a:t>
            </a:r>
            <a:r>
              <a:rPr lang="en-US" sz="2000" dirty="0"/>
              <a:t>. Show the CPU usage and thread timing.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Latency Benchmarks:</a:t>
            </a:r>
            <a:r>
              <a:rPr lang="en-US" sz="2000" dirty="0"/>
              <a:t> Present your final data for the Key Metric (e.g., </a:t>
            </a:r>
            <a:r>
              <a:rPr lang="en-US" sz="2000" i="1" dirty="0"/>
              <a:t>"Stable 40µs interrupt response under 90% load"</a:t>
            </a:r>
            <a:r>
              <a:rPr lang="en-US" sz="2000" dirty="0"/>
              <a:t>).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Analysis:</a:t>
            </a:r>
            <a:r>
              <a:rPr lang="en-US" sz="2000" dirty="0"/>
              <a:t> One sentence on what the data proves about your system's determinism.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9E61258-F087-921F-1272-FD8F21AAAE85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1B9AA0-9F8D-53B3-DE8A-50B794151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2A4016-B658-8530-15F4-3470A9A93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40" y="1302574"/>
            <a:ext cx="10765488" cy="490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6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DE71-4428-7506-8C15-7D8A6C36D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97E3609-8464-EAF0-8B98-CA931D0AE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95E0B37-5ADC-C3EB-A440-F7B3DE984F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Performance Proof (The Profiler Slide)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1792CE1-5C94-D78C-7653-0064F9B4D089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879224" y="1670923"/>
            <a:ext cx="10944224" cy="44640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/>
              <a:t>System Profiler Screenshot:</a:t>
            </a:r>
            <a:r>
              <a:rPr lang="en-US" sz="2000" dirty="0"/>
              <a:t> </a:t>
            </a:r>
            <a:r>
              <a:rPr lang="en-US" sz="2000" b="1" dirty="0"/>
              <a:t>(Mandatory)</a:t>
            </a:r>
            <a:r>
              <a:rPr lang="en-US" sz="2000" dirty="0"/>
              <a:t>. Show the CPU usage and thread timing.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Latency Benchmarks:</a:t>
            </a:r>
            <a:r>
              <a:rPr lang="en-US" sz="2000" dirty="0"/>
              <a:t> Present your final data for the Key Metric (e.g., </a:t>
            </a:r>
            <a:r>
              <a:rPr lang="en-US" sz="2000" i="1" dirty="0"/>
              <a:t>"Stable 40µs interrupt response under 90% load"</a:t>
            </a:r>
            <a:r>
              <a:rPr lang="en-US" sz="2000" dirty="0"/>
              <a:t>).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Analysis:</a:t>
            </a:r>
            <a:r>
              <a:rPr lang="en-US" sz="2000" dirty="0"/>
              <a:t> One sentence on what the data proves about your system's determinism.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ACDCC88-08B2-F3EE-F4E1-3B02CBFC508A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E793F5-FFE2-87A9-A9A5-F2A312980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B233A2-76EE-E096-A746-6372E594F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92" y="1302574"/>
            <a:ext cx="10482384" cy="483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520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2E4B-7197-3A3C-E03F-66700509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C11669-91EA-0309-B693-5A9D14B3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560B0F-5E1F-099E-862A-D3AB54637B2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Future Scalability &amp; Conclusion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72D63FE-A3D7-3075-FA60-BD2F81A3FF0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/>
          <a:p>
            <a:r>
              <a:rPr lang="en-IN" sz="2000" b="1" dirty="0"/>
              <a:t>Innovation Arbitrage:</a:t>
            </a:r>
            <a:r>
              <a:rPr lang="en-IN" sz="2000" dirty="0"/>
              <a:t> This architecture directly scales to commercial Automotive Zone Controllers, safely combining Android Automotive UI and ASIL-D ADAS systems on a single </a:t>
            </a:r>
            <a:r>
              <a:rPr lang="en-IN" sz="2000" dirty="0" err="1"/>
              <a:t>SoC.</a:t>
            </a:r>
            <a:r>
              <a:rPr lang="en-IN" sz="2000" dirty="0"/>
              <a:t> </a:t>
            </a:r>
          </a:p>
          <a:p>
            <a:endParaRPr lang="en-IN" sz="2000" dirty="0"/>
          </a:p>
          <a:p>
            <a:r>
              <a:rPr lang="en-IN" sz="2000" b="1" dirty="0"/>
              <a:t>Learning Outcome:</a:t>
            </a:r>
            <a:r>
              <a:rPr lang="en-IN" sz="2000" dirty="0"/>
              <a:t> Mastering QNX thread affinities and IPC to implement strict sensor fusion (PIR + Ultrasonic) alongside automated recovery via fork</a:t>
            </a:r>
            <a:r>
              <a:rPr lang="en-IN" sz="1600" dirty="0"/>
              <a:t>()</a:t>
            </a:r>
            <a:r>
              <a:rPr lang="en-IN" sz="2400" dirty="0"/>
              <a:t>. </a:t>
            </a:r>
            <a:endParaRPr lang="en-IN" sz="2000" dirty="0"/>
          </a:p>
          <a:p>
            <a:endParaRPr lang="en-IN" sz="2000" dirty="0"/>
          </a:p>
          <a:p>
            <a:r>
              <a:rPr lang="en-IN" sz="2000" b="1" dirty="0"/>
              <a:t>Closing Statement:</a:t>
            </a:r>
            <a:r>
              <a:rPr lang="en-IN" sz="2000" dirty="0"/>
              <a:t> "True SDV safety isn't just about sensor accuracy; it's about guaranteed execution and automated recovery through uncompromising architectural isolation."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 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EA6187-0A8F-3277-8574-1CD3CFA4A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US" dirty="0"/>
              <a:t>Demonstration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98E381-2417-C276-F067-BB114E750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38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FB83D3-8BEC-C8E9-61AE-918D1ACB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613" y="2913719"/>
            <a:ext cx="2880522" cy="1008112"/>
          </a:xfrm>
        </p:spPr>
        <p:txBody>
          <a:bodyPr/>
          <a:lstStyle/>
          <a:p>
            <a:r>
              <a:rPr lang="en-GB" sz="5400" dirty="0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43000-BA40-E5A8-8404-62F2214C5A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73D82FE5-44B7-1F78-1D46-19EFDB1B22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</p:spPr>
        <p:txBody>
          <a:bodyPr/>
          <a:lstStyle/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D8EA61-1EB7-1A69-EB04-1C78AA4BF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56" y="208185"/>
            <a:ext cx="1979625" cy="44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08466"/>
      </p:ext>
    </p:extLst>
  </p:cSld>
  <p:clrMapOvr>
    <a:masterClrMapping/>
  </p:clrMapOvr>
</p:sld>
</file>

<file path=ppt/theme/theme1.xml><?xml version="1.0" encoding="utf-8"?>
<a:theme xmlns:a="http://schemas.openxmlformats.org/drawingml/2006/main" name="QNX | Light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191C710F-D422-4B8C-9A81-2A40F20F48DE}"/>
    </a:ext>
  </a:extLst>
</a:theme>
</file>

<file path=ppt/theme/theme2.xml><?xml version="1.0" encoding="utf-8"?>
<a:theme xmlns:a="http://schemas.openxmlformats.org/drawingml/2006/main" name="QNX | Dark">
  <a:themeElements>
    <a:clrScheme name="QNX Dark">
      <a:dk1>
        <a:srgbClr val="FFFFFF"/>
      </a:dk1>
      <a:lt1>
        <a:srgbClr val="181C1E"/>
      </a:lt1>
      <a:dk2>
        <a:srgbClr val="232729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0B09E0BA-3578-4178-9FA4-24CF5A7153F7}"/>
    </a:ext>
  </a:extLst>
</a:theme>
</file>

<file path=ppt/theme/theme3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15C3AF597C064C8EACF7750A706AA1" ma:contentTypeVersion="14" ma:contentTypeDescription="Create a new document." ma:contentTypeScope="" ma:versionID="cd31ca2f014878da71db5851bb8335d6">
  <xsd:schema xmlns:xsd="http://www.w3.org/2001/XMLSchema" xmlns:xs="http://www.w3.org/2001/XMLSchema" xmlns:p="http://schemas.microsoft.com/office/2006/metadata/properties" xmlns:ns2="74d07cac-c1cc-4baf-be88-9058bb44268e" xmlns:ns3="0b5c48a3-1058-4d9c-8878-41c52406cd7e" targetNamespace="http://schemas.microsoft.com/office/2006/metadata/properties" ma:root="true" ma:fieldsID="88b2ae059b7f33d05a05ea6f6b017691" ns2:_="" ns3:_="">
    <xsd:import namespace="74d07cac-c1cc-4baf-be88-9058bb44268e"/>
    <xsd:import namespace="0b5c48a3-1058-4d9c-8878-41c52406c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07cac-c1cc-4baf-be88-9058bb442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fbd4aa-c6d2-4b2d-b985-fe2a529cec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5c48a3-1058-4d9c-8878-41c52406cd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d58ce0-b206-49ce-abeb-3aa62a3aba60}" ma:internalName="TaxCatchAll" ma:showField="CatchAllData" ma:web="0b5c48a3-1058-4d9c-8878-41c52406c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5c48a3-1058-4d9c-8878-41c52406cd7e" xsi:nil="true"/>
    <lcf76f155ced4ddcb4097134ff3c332f xmlns="74d07cac-c1cc-4baf-be88-9058bb44268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F71049C-BB68-45C5-8689-81436DCA44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d07cac-c1cc-4baf-be88-9058bb44268e"/>
    <ds:schemaRef ds:uri="0b5c48a3-1058-4d9c-8878-41c52406cd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1C58F7-F9BC-44EA-BC5B-345288656F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BF049E-CC88-4DF7-A165-CA575467262C}">
  <ds:schemaRefs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purl.org/dc/terms/"/>
    <ds:schemaRef ds:uri="http://purl.org/dc/dcmitype/"/>
    <ds:schemaRef ds:uri="0b5c48a3-1058-4d9c-8878-41c52406cd7e"/>
    <ds:schemaRef ds:uri="74d07cac-c1cc-4baf-be88-9058bb44268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K16_QNX_PPT_Master_2026_V03</Template>
  <TotalTime>176</TotalTime>
  <Words>923</Words>
  <Application>Microsoft Office PowerPoint</Application>
  <PresentationFormat>Widescreen</PresentationFormat>
  <Paragraphs>113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Onest</vt:lpstr>
      <vt:lpstr>Onest Medium</vt:lpstr>
      <vt:lpstr>Onest SemiBold</vt:lpstr>
      <vt:lpstr>Symbol</vt:lpstr>
      <vt:lpstr>Wingdings</vt:lpstr>
      <vt:lpstr>QNX | Light</vt:lpstr>
      <vt:lpstr>QNX | Dark</vt:lpstr>
      <vt:lpstr>Software-Defined Vehicle &amp; Cockpit safety</vt:lpstr>
      <vt:lpstr>Design and Execution</vt:lpstr>
      <vt:lpstr>Title &amp; Team Identity</vt:lpstr>
      <vt:lpstr>Problem Synthesis &amp; Scenario</vt:lpstr>
      <vt:lpstr>QNX Architectural Approach</vt:lpstr>
      <vt:lpstr>Technical Execution (Hardware &amp; Logic)</vt:lpstr>
      <vt:lpstr>Technical Execution (Hardware &amp; Logic)</vt:lpstr>
      <vt:lpstr>Technical Execution (Hardware &amp; Logic)</vt:lpstr>
      <vt:lpstr>Resilience &amp; "The Hack" Response</vt:lpstr>
      <vt:lpstr>Demonstration</vt:lpstr>
      <vt:lpstr>Performance Proof (The Profiler Slide)</vt:lpstr>
      <vt:lpstr>Performance Proof (The Profiler Slide)</vt:lpstr>
      <vt:lpstr>Future Scalability &amp; Conclusion</vt:lpstr>
      <vt:lpstr>Thank you</vt:lpstr>
    </vt:vector>
  </TitlesOfParts>
  <Company>BlackBerry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jharley@qnx.com</dc:creator>
  <dc:description>Optimized for MS Office 365</dc:description>
  <cp:lastModifiedBy>I_ Kushal _I</cp:lastModifiedBy>
  <cp:revision>9</cp:revision>
  <dcterms:created xsi:type="dcterms:W3CDTF">2026-03-27T14:44:28Z</dcterms:created>
  <dcterms:modified xsi:type="dcterms:W3CDTF">2026-05-08T20:12:32Z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0x0101004815C3AF597C064C8EACF7750A706AA1</vt:lpwstr>
  </property>
  <property fmtid="{D5CDD505-2E9C-101B-9397-08002B2CF9AE}" pid="3" name="MediaServiceImageTags">
    <vt:lpwstr/>
  </property>
</Properties>
</file>